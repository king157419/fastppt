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9966960" y="0"/>
            <a:ext cx="2194560" cy="2194560"/>
          </a:xfrm>
          <a:prstGeom prst="rtTriangl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FastPPT 项目简介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FDBFE"/>
                </a:solidFill>
                <a:latin typeface="Microsoft YaHei"/>
              </a:defRPr>
            </a:pPr>
            <a:r>
              <a:t>A04 多模态 AI 互动式教学智能体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8328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93C5FD"/>
                </a:solidFill>
                <a:latin typeface="Microsoft YaHei"/>
              </a:defRPr>
            </a:pPr>
            <a:r>
              <a:t>不是普通 AI PPT 生成器，而是高校教师的教学设计执行系统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Contest Submission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11827"/>
                </a:solidFill>
                <a:latin typeface="Microsoft YaHei"/>
              </a:defRPr>
            </a:pPr>
            <a:r>
              <a:t>01 我们对赛题的理解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7534E"/>
                </a:solidFill>
                <a:latin typeface="Microsoft YaHei"/>
              </a:defRPr>
            </a:pPr>
            <a:r>
              <a:t>真正难的不是“生成”，而是“理解、利用资料、支持修改”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356616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75104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不是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487168"/>
            <a:ext cx="2962656" cy="2779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给一个主题就自动出整套 PPT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只追求速度和视觉炫技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生成后无法继续稳定修改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74720" cy="35661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75104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而是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487168"/>
            <a:ext cx="2962656" cy="2779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先理解教师真实教学意图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再把旧 PPT 和资料真正用上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最后输出可改、可导出的课件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35661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75104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评审价值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87168"/>
            <a:ext cx="2871216" cy="2779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多模态输入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RAG 与证据绑定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页级 revise 闭环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教学实用性优先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550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16C"/>
                </a:solidFill>
                <a:latin typeface="Consolas"/>
              </a:defRPr>
            </a:pPr>
            <a: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02 目标用户与主场景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Microsoft YaHei"/>
              </a:defRPr>
            </a:pPr>
            <a:r>
              <a:t>主战场不是从零生成，而是旧课增强与资料重构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114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83664"/>
            <a:ext cx="28895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目标用户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395728"/>
            <a:ext cx="2779776" cy="3328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有真实授课任务的高校教师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已经具备教学判断和课程思路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手里已有教材、旧课件、案例和素材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91840" cy="4114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883664"/>
            <a:ext cx="28895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主场景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395728"/>
            <a:ext cx="2779776" cy="3328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基于旧 PPT 或同类课件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补最新案例、数据、论文、政策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增加更相关的示意图和图表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411480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883664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老师最在意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395728"/>
            <a:ext cx="2871216" cy="3328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别乱猜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别太花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图要相关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修改时别带乱其他页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550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11827"/>
                </a:solidFill>
                <a:latin typeface="Microsoft YaHei"/>
              </a:defRPr>
            </a:pPr>
            <a:r>
              <a:t>03 方案主链路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  <a:latin typeface="Microsoft YaHei"/>
              </a:defRPr>
            </a:pPr>
            <a:r>
              <a:t>把教学意图、资料、生成和修改串成连续闭环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43200"/>
            <a:ext cx="201168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04495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Teacher Input</a:t>
            </a:r>
          </a:p>
        </p:txBody>
      </p:sp>
      <p:sp>
        <p:nvSpPr>
          <p:cNvPr id="7" name="Chevron 6"/>
          <p:cNvSpPr/>
          <p:nvPr/>
        </p:nvSpPr>
        <p:spPr>
          <a:xfrm>
            <a:off x="2770632" y="2926080"/>
            <a:ext cx="502920" cy="621792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71800" y="2743200"/>
            <a:ext cx="2011680" cy="10058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304495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TeachingSpec</a:t>
            </a:r>
          </a:p>
        </p:txBody>
      </p:sp>
      <p:sp>
        <p:nvSpPr>
          <p:cNvPr id="10" name="Chevron 9"/>
          <p:cNvSpPr/>
          <p:nvPr/>
        </p:nvSpPr>
        <p:spPr>
          <a:xfrm>
            <a:off x="5056631" y="2926080"/>
            <a:ext cx="502920" cy="621792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57800" y="2743200"/>
            <a:ext cx="2011680" cy="100584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304495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SourceAnchor</a:t>
            </a:r>
          </a:p>
        </p:txBody>
      </p:sp>
      <p:sp>
        <p:nvSpPr>
          <p:cNvPr id="13" name="Chevron 12"/>
          <p:cNvSpPr/>
          <p:nvPr/>
        </p:nvSpPr>
        <p:spPr>
          <a:xfrm>
            <a:off x="7342631" y="2926080"/>
            <a:ext cx="502920" cy="621792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43800" y="2743200"/>
            <a:ext cx="2011680" cy="10058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304495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Generate</a:t>
            </a:r>
          </a:p>
        </p:txBody>
      </p:sp>
      <p:sp>
        <p:nvSpPr>
          <p:cNvPr id="16" name="Chevron 15"/>
          <p:cNvSpPr/>
          <p:nvPr/>
        </p:nvSpPr>
        <p:spPr>
          <a:xfrm>
            <a:off x="9628632" y="2926080"/>
            <a:ext cx="502920" cy="621792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29800" y="2743200"/>
            <a:ext cx="201168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304495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Revise / 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572000"/>
            <a:ext cx="10058400" cy="777240"/>
          </a:xfrm>
          <a:prstGeom prst="round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39" y="4681728"/>
            <a:ext cx="969264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生成前强确认：教学目标 / 面向学生类型 / 重点难点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550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96"/>
                </a:solidFill>
                <a:latin typeface="Consolas"/>
              </a:defRPr>
            </a:pPr>
            <a: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04 当前已具备的可演示能力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Microsoft YaHei"/>
              </a:defRPr>
            </a:pPr>
            <a:r>
              <a:t>这部分强调“已跑通”，不把目标态写成已完成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83280" cy="3840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29384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输入与理解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441448"/>
            <a:ext cx="2871216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多文件上传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对话采集教学意图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TeachingSpec 编译与预检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383280" cy="3840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29384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生成与预览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441448"/>
            <a:ext cx="2871216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输出 slides_json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前端预览课件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支持真实 PPTX / DOCX 导出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783080"/>
            <a:ext cx="3383280" cy="3840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929384"/>
            <a:ext cx="29809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修改与演示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441448"/>
            <a:ext cx="2871216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支持页级 revise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可重新导出结果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系统已运行在稳定 demo 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550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11827"/>
                </a:solidFill>
                <a:latin typeface="Microsoft YaHei"/>
              </a:defRPr>
            </a:pPr>
            <a:r>
              <a:t>05 当前系统事实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  <a:latin typeface="Microsoft YaHei"/>
              </a:defRPr>
            </a:pPr>
            <a:r>
              <a:t>代码与运行状态共同证明：项目已具备端到端演示基础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148840" cy="1645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93392"/>
            <a:ext cx="1819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60320"/>
            <a:ext cx="181965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onsolas"/>
              </a:defRPr>
            </a:pPr>
            <a:r>
              <a:t>healthy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828800"/>
            <a:ext cx="2148840" cy="1645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1993392"/>
            <a:ext cx="1819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560320"/>
            <a:ext cx="181965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onsolas"/>
              </a:defRPr>
            </a:pPr>
            <a:r>
              <a:t>demo_mode=true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828800"/>
            <a:ext cx="2148840" cy="1645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1993392"/>
            <a:ext cx="1819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560320"/>
            <a:ext cx="181965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onsolas"/>
              </a:defRPr>
            </a:pPr>
            <a:r>
              <a:t>plain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828800"/>
            <a:ext cx="2148840" cy="164592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1993392"/>
            <a:ext cx="1819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2560320"/>
            <a:ext cx="181965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onsolas"/>
              </a:defRPr>
            </a:pPr>
            <a:r>
              <a:t>tfidf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40" y="1828800"/>
            <a:ext cx="1188720" cy="1645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14432" y="1993392"/>
            <a:ext cx="859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4432" y="2560320"/>
            <a:ext cx="85953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onsolas"/>
              </a:defRPr>
            </a:pPr>
            <a:r>
              <a:t>PPTX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886200"/>
            <a:ext cx="4937760" cy="1508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" y="4032504"/>
            <a:ext cx="45354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代码骨架已落地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4544568"/>
            <a:ext cx="4425696" cy="722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已有 TeachingSpec 对象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已有 slide blocks 协议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886200"/>
            <a:ext cx="5029200" cy="15087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4032504"/>
            <a:ext cx="46268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仍在推进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544568"/>
            <a:ext cx="4517136" cy="722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两阶段生成、blocks 全量渲染、课程记忆与 verify/repair 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3550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96"/>
                </a:solidFill>
                <a:latin typeface="Consolas"/>
              </a:defRPr>
            </a:pPr>
            <a: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06 差异化创新点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Microsoft YaHei"/>
              </a:defRPr>
            </a:pPr>
            <a:r>
              <a:t>关键不在模型更大，而在工程主链更适合教师工作流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2560320" cy="397763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29384"/>
            <a:ext cx="21579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Spec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441448"/>
            <a:ext cx="2048255" cy="3191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先把需求收束成教学规格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避免 prompt 驱动的随机漂移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783080"/>
            <a:ext cx="2560320" cy="3977639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1929384"/>
            <a:ext cx="21579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SourceAnchor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441448"/>
            <a:ext cx="2048255" cy="3191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不是普通检索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而是可绑定、可追溯的教学证据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2560320" cy="3977639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929384"/>
            <a:ext cx="21579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Page-level Revise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41448"/>
            <a:ext cx="2048255" cy="3191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支持只改一页或补一个案例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更贴近老师真实修改习惯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783080"/>
            <a:ext cx="2423160" cy="3977639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1929384"/>
            <a:ext cx="20208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CourseMemory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2441448"/>
            <a:ext cx="1911095" cy="3191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课程资产长期沉淀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形成复利型工作区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550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11827"/>
                </a:solidFill>
                <a:latin typeface="Microsoft YaHei"/>
              </a:defRPr>
            </a:pPr>
            <a:r>
              <a:t>07 答辩演示路径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  <a:latin typeface="Microsoft YaHei"/>
              </a:defRPr>
            </a:pPr>
            <a:r>
              <a:t>用最强主场景讲清楚价值：旧 PPT 增强，而不是一键出稿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60704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75104"/>
            <a:ext cx="102047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Demo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487168"/>
            <a:ext cx="10094976" cy="2596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上传旧 PPT + 教材片段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确认教学目标、学生类型、重点难点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触发生成并查看 slides 预览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对指定页提出修改要求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导出 PPTX 与 DOCX 作为交付物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5486400"/>
            <a:ext cx="4846320" cy="5943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39" y="5596128"/>
            <a:ext cx="44805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Frontend: http://localhost:5173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5486400"/>
            <a:ext cx="4846320" cy="5943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5596128"/>
            <a:ext cx="44805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6534"/>
                </a:solidFill>
                <a:latin typeface="Microsoft YaHei"/>
              </a:defRPr>
            </a:pPr>
            <a:r>
              <a:t>Backend: http://localhost:8000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550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8296"/>
                </a:solidFill>
                <a:latin typeface="Consolas"/>
              </a:defRPr>
            </a:pPr>
            <a: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11827"/>
                </a:solidFill>
                <a:latin typeface="Microsoft YaHei"/>
              </a:defRPr>
            </a:pPr>
            <a:r>
              <a:t>08 路线图与当前边界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515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8716C"/>
                </a:solidFill>
                <a:latin typeface="Microsoft YaHei"/>
              </a:defRPr>
            </a:pPr>
            <a:r>
              <a:t>先把“可控首稿”做稳，再把“可用性”做强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474720" cy="374903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75104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487168"/>
            <a:ext cx="2962656" cy="2962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TeachingSpec 继续强化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SourceAnchor 最小闭环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两阶段生成打通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前端支持 blocks 渲染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74720" cy="3749039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75104"/>
            <a:ext cx="3072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487168"/>
            <a:ext cx="2962656" cy="2962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渲染后 verify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低风险 repair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风格继承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课程记忆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828800"/>
            <a:ext cx="3429000" cy="3749039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975104"/>
            <a:ext cx="30266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当前边界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487168"/>
            <a:ext cx="2916936" cy="2962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不夸大未完成能力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不把一键生成当主叙事</a:t>
            </a:r>
          </a:p>
          <a:p>
            <a:pPr>
              <a:defRPr sz="1400">
                <a:solidFill>
                  <a:srgbClr val="F1F5F9"/>
                </a:solidFill>
                <a:latin typeface="Microsoft YaHei"/>
              </a:defRPr>
            </a:pPr>
            <a:r>
              <a:t>• 答辩优先展示已跑通闭环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550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16C"/>
                </a:solidFill>
                <a:latin typeface="Consolas"/>
              </a:defRPr>
            </a:pPr>
            <a: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830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DCFCE7"/>
                </a:solidFill>
                <a:latin typeface="Microsoft YaHei"/>
              </a:defRPr>
            </a:pPr>
            <a:r>
              <a:t>FastPPT 的核心价值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7F3D0"/>
                </a:solidFill>
                <a:latin typeface="Microsoft YaHei"/>
              </a:defRPr>
            </a:pPr>
            <a:r>
              <a:t>把老师已经想清楚的那堂课，准确、快速、可修改、可积累地做出来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3977639"/>
            <a:ext cx="9784080" cy="777240"/>
          </a:xfrm>
          <a:prstGeom prst="roundRect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4087368"/>
            <a:ext cx="9418319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64E3B"/>
                </a:solidFill>
                <a:latin typeface="Microsoft YaHei"/>
              </a:defRPr>
            </a:pPr>
            <a:r>
              <a:t>理解老师 &gt; 利用资料 &gt; 生成课件 &gt; 稳定修改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7492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BF7D0"/>
                </a:solidFill>
                <a:latin typeface="Microsoft YaHei"/>
              </a:defRPr>
            </a:pPr>
            <a:r>
              <a:t>A04 赛题提交版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6EFAC"/>
                </a:solidFill>
                <a:latin typeface="Consolas"/>
              </a:defRPr>
            </a:pPr>
            <a:r>
              <a:t>Page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